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4206240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HACK DEVENGERS 2.0  ·  AI &amp; DEVELOPER TOOLS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286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400" b="1">
                <a:solidFill>
                  <a:srgbClr val="0F172A"/>
                </a:solidFill>
                <a:latin typeface="Arial"/>
              </a:defRPr>
            </a:pPr>
            <a:r>
              <a:t>CONTEXTGC</a:t>
            </a:r>
          </a:p>
          <a:p>
            <a:pPr>
              <a:spcBef>
                <a:spcPts val="600"/>
              </a:spcBef>
              <a:defRPr sz="1900" b="1">
                <a:solidFill>
                  <a:srgbClr val="2563EB"/>
                </a:solidFill>
                <a:latin typeface="Arial"/>
              </a:defRPr>
            </a:pPr>
            <a:r>
              <a:t>Autonomous Semantic Context Defragmenter for Long-Horizon AI Agents</a:t>
            </a:r>
          </a:p>
          <a:p>
            <a:pPr>
              <a:spcBef>
                <a:spcPts val="600"/>
              </a:spcBef>
              <a:defRPr sz="1250">
                <a:solidFill>
                  <a:srgbClr val="64748B"/>
                </a:solidFill>
                <a:latin typeface="Arial"/>
              </a:defRPr>
            </a:pPr>
            <a:r>
              <a:t>Eliminating context rot, policy drift, and 70% of prompt deadweight through deterministic causal garbage collection.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91840"/>
            <a:ext cx="2487168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2600" b="1">
                <a:solidFill>
                  <a:srgbClr val="059669"/>
                </a:solidFill>
                <a:latin typeface="Arial"/>
              </a:defRPr>
            </a:pPr>
            <a:r>
              <a:t>70.1%</a:t>
            </a:r>
          </a:p>
          <a:p>
            <a:pPr>
              <a:spcBef>
                <a:spcPts val="200"/>
              </a:spcBef>
              <a:defRPr sz="1150" b="1">
                <a:solidFill>
                  <a:srgbClr val="0F172A"/>
                </a:solidFill>
                <a:latin typeface="Arial"/>
              </a:defRPr>
            </a:pPr>
            <a:r>
              <a:t>Token Reduction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Prunes superseded turns &amp; dead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291840"/>
            <a:ext cx="2212848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3291840"/>
            <a:ext cx="2487168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2600" b="1">
                <a:solidFill>
                  <a:srgbClr val="2563EB"/>
                </a:solidFill>
                <a:latin typeface="Arial"/>
              </a:defRPr>
            </a:pPr>
            <a:r>
              <a:t>0%</a:t>
            </a:r>
          </a:p>
          <a:p>
            <a:pPr>
              <a:spcBef>
                <a:spcPts val="200"/>
              </a:spcBef>
              <a:defRPr sz="1150" b="1">
                <a:solidFill>
                  <a:srgbClr val="0F172A"/>
                </a:solidFill>
                <a:latin typeface="Arial"/>
              </a:defRPr>
            </a:pPr>
            <a:r>
              <a:t>Policy Drift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Guarantees hard security &amp; financial invariants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80" y="3291840"/>
            <a:ext cx="221284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3291840"/>
            <a:ext cx="2487168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2600" b="1">
                <a:solidFill>
                  <a:srgbClr val="4F46E5"/>
                </a:solidFill>
                <a:latin typeface="Arial"/>
              </a:defRPr>
            </a:pPr>
            <a:r>
              <a:t>&lt; 15ms</a:t>
            </a:r>
          </a:p>
          <a:p>
            <a:pPr>
              <a:spcBef>
                <a:spcPts val="200"/>
              </a:spcBef>
              <a:defRPr sz="1150" b="1">
                <a:solidFill>
                  <a:srgbClr val="0F172A"/>
                </a:solidFill>
                <a:latin typeface="Arial"/>
              </a:defRPr>
            </a:pPr>
            <a:r>
              <a:t>Interception Overhead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Pure Python, zero network roundtrip GC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3291840"/>
            <a:ext cx="2212848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0" y="3291840"/>
            <a:ext cx="2487168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2600" b="1">
                <a:solidFill>
                  <a:srgbClr val="D97706"/>
                </a:solidFill>
                <a:latin typeface="Arial"/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sz="1150" b="1">
                <a:solidFill>
                  <a:srgbClr val="0F172A"/>
                </a:solidFill>
                <a:latin typeface="Arial"/>
              </a:defRPr>
            </a:pPr>
            <a:r>
              <a:t>KV-Cache Hit Rate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Preserves exact prefix for Radix tree caching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8280" y="3291840"/>
            <a:ext cx="2212848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3212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Architect: Jay Gopal Tripathy (@j4yop)   ·   Repository: github.com/j4yop/context-hackdevengers   ·   Live on Vercel 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01 / CONTEXT DEGRADATION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The Operational Tax of Long-Horizon AI Agents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1M+ token windows solve raw storage capacity, but models quietly degrade in reasoning fidelity as context fills with operational sludge.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01568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Economic &amp; Latency Tax</a:t>
            </a:r>
          </a:p>
          <a:p>
            <a:pPr>
              <a:spcBef>
                <a:spcPts val="400"/>
              </a:spcBef>
              <a:defRPr sz="3000" b="1">
                <a:solidFill>
                  <a:srgbClr val="E11D48"/>
                </a:solidFill>
                <a:latin typeface="Arial"/>
              </a:defRPr>
            </a:pPr>
            <a:r>
              <a:t>74%</a:t>
            </a:r>
          </a:p>
          <a:p>
            <a:pPr>
              <a:spcBef>
                <a:spcPts val="100"/>
              </a:spcBef>
              <a:defRPr sz="900" b="1">
                <a:solidFill>
                  <a:srgbClr val="E11D48"/>
                </a:solidFill>
                <a:latin typeface="Arial"/>
              </a:defRPr>
            </a:pPr>
            <a:r>
              <a:t>DEAD TOKENS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Over 70% of prompt tokens in long sessions consist of dead context: superseded requirements, 500-line tool outputs, and resolved stack traces.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Developers pay for this deadweight repeatedly on every single turn, driving a linear inference cost explosion.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Significantly inflates Time-To-First-Token (TTFT) by hundreds of milliseconds, degrading user responsiveness.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463040"/>
            <a:ext cx="3127248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01568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Lost-in-the-Middle Drift</a:t>
            </a:r>
          </a:p>
          <a:p>
            <a:pPr>
              <a:spcBef>
                <a:spcPts val="400"/>
              </a:spcBef>
              <a:defRPr sz="3000" b="1">
                <a:solidFill>
                  <a:srgbClr val="D97706"/>
                </a:solidFill>
                <a:latin typeface="Arial"/>
              </a:defRPr>
            </a:pPr>
            <a:r>
              <a:t>&gt; 80%</a:t>
            </a:r>
          </a:p>
          <a:p>
            <a:pPr>
              <a:spcBef>
                <a:spcPts val="100"/>
              </a:spcBef>
              <a:defRPr sz="900" b="1">
                <a:solidFill>
                  <a:srgbClr val="D97706"/>
                </a:solidFill>
                <a:latin typeface="Arial"/>
              </a:defRPr>
            </a:pPr>
            <a:r>
              <a:t>ATTENTION DEGRADE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Transformer self-attention mechanisms degrade over long, noisy middle contexts (Lost-in-the-Middle phenomenon).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When users modify constraints mid-session (e.g. changing delivery addresses or ports), models suffer recency collisions.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Agents hallucinate and act upon obsolete variables: dispatching orders to old locations or querying deprecated 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463040"/>
            <a:ext cx="3127248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01568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Policy Invariant Erosion</a:t>
            </a:r>
          </a:p>
          <a:p>
            <a:pPr>
              <a:spcBef>
                <a:spcPts val="400"/>
              </a:spcBef>
              <a:defRPr sz="3000" b="1">
                <a:solidFill>
                  <a:srgbClr val="4F46E5"/>
                </a:solidFill>
                <a:latin typeface="Arial"/>
              </a:defRPr>
            </a:pPr>
            <a:r>
              <a:t>0% Safe</a:t>
            </a:r>
          </a:p>
          <a:p>
            <a:pPr>
              <a:spcBef>
                <a:spcPts val="100"/>
              </a:spcBef>
              <a:defRPr sz="900" b="1">
                <a:solidFill>
                  <a:srgbClr val="4F46E5"/>
                </a:solidFill>
                <a:latin typeface="Arial"/>
              </a:defRPr>
            </a:pPr>
            <a:r>
              <a:t>COMPLIANCE BREAK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Critical non-negotiable policies (financial spending limits, privacy redactions, safety invariants) fade under token sludge.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Models quietly violate hard constraints: issuing unauthorized ₹800 refunds or dumping raw API keys during debugging.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Multi-turn operational noise gradually overrides initial developer-defined safety specifications.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80" y="1463040"/>
            <a:ext cx="3127248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5559552"/>
            <a:ext cx="10728655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050" b="1">
                <a:solidFill>
                  <a:srgbClr val="2563EB"/>
                </a:solidFill>
                <a:latin typeface="Arial"/>
              </a:defRPr>
            </a:pPr>
            <a:r>
              <a:t>Core Architectural Insight: 1M token windows solve storage capacity, not attention quality. Autonomous agents need deterministic systems-level context garbage collection.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02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Defragmentation Pipeline &amp; Information Flow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CONTEXTGC operates inline between agent frameworks and LLM runtimes to eliminate context rot before inference.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017520" cy="2880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STAGE 1: INGESTION TIER</a:t>
            </a:r>
          </a:p>
          <a:p>
            <a:pPr>
              <a:spcBef>
                <a:spcPts val="7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▸ User Instructions</a:t>
            </a:r>
          </a:p>
          <a:p>
            <a:pPr>
              <a:spcBef>
                <a:spcPts val="1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Multi-turn requirements, modifications &amp; slot updates</a:t>
            </a:r>
          </a:p>
          <a:p>
            <a:pPr>
              <a:spcBef>
                <a:spcPts val="7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▸ Tool Logs &amp; Payloads</a:t>
            </a:r>
          </a:p>
          <a:p>
            <a:pPr>
              <a:spcBef>
                <a:spcPts val="1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Structured JSON outputs, DB responses &amp; stack traces</a:t>
            </a:r>
          </a:p>
          <a:p>
            <a:pPr>
              <a:spcBef>
                <a:spcPts val="7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▸ System Invariants</a:t>
            </a:r>
          </a:p>
          <a:p>
            <a:pPr>
              <a:spcBef>
                <a:spcPts val="1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Hard financial, security &amp; policy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463040"/>
            <a:ext cx="27432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94760" y="25146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657600" cy="2880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>
              <a:defRPr sz="1100" b="1">
                <a:solidFill>
                  <a:srgbClr val="4F46E5"/>
                </a:solidFill>
                <a:latin typeface="Arial"/>
              </a:defRPr>
            </a:pPr>
            <a:r>
              <a:t>STAGE 2: CONTEXTGC ENGINE  (&lt; 15ms)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1. State DAG: Causal fact invalidation &amp; branch pruning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2. Tool Sanitizer: Protocol-safe schema tombstones (-95%)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3. Policy Anchors: Recency attention boundary re-injection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4. Episodic Vector: Cold turn storage &amp; BM25/Cosine recall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5. Dual Compactor: Token minimization vs KV-cache hits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463040"/>
            <a:ext cx="338328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25146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59669"/>
                </a:solidFill>
                <a:latin typeface="Arial"/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463040"/>
            <a:ext cx="2956255" cy="2880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STAGE 3: DELIVERY &amp; RUNTIME</a:t>
            </a:r>
          </a:p>
          <a:p>
            <a:pPr>
              <a:spcBef>
                <a:spcPts val="7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▸ SSE Streaming Proxy</a:t>
            </a:r>
          </a:p>
          <a:p>
            <a:pPr>
              <a:spcBef>
                <a:spcPts val="1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/v1/chat/completions drop-in endpoint</a:t>
            </a:r>
          </a:p>
          <a:p>
            <a:pPr>
              <a:spcBef>
                <a:spcPts val="7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▸ 1-Line Python SDK</a:t>
            </a:r>
          </a:p>
          <a:p>
            <a:pPr>
              <a:spcBef>
                <a:spcPts val="1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patch_openai(mode='compact')</a:t>
            </a:r>
          </a:p>
          <a:p>
            <a:pPr>
              <a:spcBef>
                <a:spcPts val="7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▸ Downstream LLMs</a:t>
            </a:r>
          </a:p>
          <a:p>
            <a:pPr>
              <a:spcBef>
                <a:spcPts val="1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GPT-4o, Claude 3.7, DeepSeek V3, vLLM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1463040"/>
            <a:ext cx="2681935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526280"/>
            <a:ext cx="2487168" cy="1600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28016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1. State DAG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Arial"/>
              </a:defRPr>
            </a:pPr>
            <a:r>
              <a:t>Prunes superseded branches in causal order (Tower B → Clubhouse → Gate 2).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36008"/>
            <a:ext cx="36576" cy="1380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4526280"/>
            <a:ext cx="2487168" cy="1600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28016"/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2. Tool Sanitizer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Arial"/>
              </a:defRPr>
            </a:pPr>
            <a:r>
              <a:t>Replaces resolved errors with tombstones while preserving tool_call_id.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4636008"/>
            <a:ext cx="36576" cy="13807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4526280"/>
            <a:ext cx="2487168" cy="1600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28016"/>
          <a:lstStyle/>
          <a:p>
            <a:pPr algn="ctr">
              <a:defRPr sz="1100" b="1">
                <a:solidFill>
                  <a:srgbClr val="D97706"/>
                </a:solidFill>
                <a:latin typeface="Arial"/>
              </a:defRPr>
            </a:pPr>
            <a:r>
              <a:t>3. Policy Anchors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Arial"/>
              </a:defRPr>
            </a:pPr>
            <a:r>
              <a:t>Pins non-negotiable financial &amp; security rules at recency attention boundary.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636008"/>
            <a:ext cx="36576" cy="13807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0" y="4526280"/>
            <a:ext cx="2487168" cy="1600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28016"/>
          <a:lstStyle/>
          <a:p>
            <a:pPr algn="ctr">
              <a:defRPr sz="1100" b="1">
                <a:solidFill>
                  <a:srgbClr val="4F46E5"/>
                </a:solidFill>
                <a:latin typeface="Arial"/>
              </a:defRPr>
            </a:pPr>
            <a:r>
              <a:t>4. Episodic Vector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Arial"/>
              </a:defRPr>
            </a:pPr>
            <a:r>
              <a:t>Archives cold history into 768-dim table for sub-ms JIT semantic recall.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4636008"/>
            <a:ext cx="36576" cy="138074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03 / CAUSAL STATE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Neuro-Symbolic State DAG &amp; Causal Pruning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Why naive RAG and summarizers fail: Embeddings understand semantic similarity, but cannot resolve temporal causality.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Causal Branch Resolution Mechanics</a:t>
            </a:r>
          </a:p>
          <a:p>
            <a:pPr>
              <a:spcBef>
                <a:spcPts val="7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Entity Mutation Graph: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Scans user and agent turns for slot updates (addresses, ports, keys) with preceding 50-character negation windows.</a:t>
            </a:r>
          </a:p>
          <a:p>
            <a:pPr>
              <a:spcBef>
                <a:spcPts val="7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Immutable Guardrails: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Critical user constraints (e.g. 'NO PEANUTS', spending limits) are permanently anchored against overrides.</a:t>
            </a:r>
          </a:p>
          <a:p>
            <a:pPr>
              <a:spcBef>
                <a:spcPts val="7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Dead-Branch Eviction: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Once Turn 9 confirms Gate 2, Turn 1 (Tower B) and Turn 5 (Clubhouse) are recognized as dead branches and pruned from active tokens.</a:t>
            </a:r>
          </a:p>
          <a:p>
            <a:pPr>
              <a:spcBef>
                <a:spcPts val="7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Transactional Rollback: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Supports dag.rollback_to(turn_id) to instantly restore prior states on tool failure without confusing the model.</a:t>
            </a:r>
          </a:p>
          <a:p>
            <a:pPr>
              <a:spcBef>
                <a:spcPts val="7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Zero DAG Pollution: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Heuristic filtering prevents transient tool inventory dumps from polluting the state graph.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463040"/>
            <a:ext cx="48463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333695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/>
          <a:lstStyle/>
          <a:p>
            <a:pPr algn="ctr">
              <a:defRPr sz="1000" b="1">
                <a:solidFill>
                  <a:srgbClr val="64748B"/>
                </a:solidFill>
                <a:latin typeface="Consolas"/>
              </a:defRPr>
            </a:pPr>
            <a:r>
              <a:t>// ACTIVE STATE DAG SNAPSHOT (SETTLED EXECUTION)</a:t>
            </a:r>
          </a:p>
          <a:p>
            <a:pPr>
              <a:spcBef>
                <a:spcPts val="700"/>
              </a:spcBef>
              <a:defRPr sz="950">
                <a:solidFill>
                  <a:srgbClr val="059669"/>
                </a:solidFill>
                <a:latin typeface="Consolas"/>
              </a:defRPr>
            </a:pPr>
            <a:r>
              <a:t>[ACTIVE] destination_address: "Gate 2 Security Entrance"  [Settled T9]</a:t>
            </a:r>
          </a:p>
          <a:p>
            <a:pPr>
              <a:spcBef>
                <a:spcPts val="700"/>
              </a:spcBef>
              <a:defRPr sz="950">
                <a:solidFill>
                  <a:srgbClr val="059669"/>
                </a:solidFill>
                <a:latin typeface="Consolas"/>
              </a:defRPr>
            </a:pPr>
            <a:r>
              <a:t>[ACTIVE] gate_code: "4921"  [Settled T9]</a:t>
            </a:r>
          </a:p>
          <a:p>
            <a:pPr>
              <a:spcBef>
                <a:spcPts val="700"/>
              </a:spcBef>
              <a:defRPr sz="950">
                <a:solidFill>
                  <a:srgbClr val="2563EB"/>
                </a:solidFill>
                <a:latin typeface="Consolas"/>
              </a:defRPr>
            </a:pPr>
            <a:r>
              <a:t>[GUARD]  dietary_allergy: "NO PEANUTS"  [IMMUTABLE]</a:t>
            </a:r>
          </a:p>
          <a:p>
            <a:pPr>
              <a:spcBef>
                <a:spcPts val="700"/>
              </a:spcBef>
              <a:defRPr sz="950">
                <a:solidFill>
                  <a:srgbClr val="059669"/>
                </a:solidFill>
                <a:latin typeface="Consolas"/>
              </a:defRPr>
            </a:pPr>
            <a:r>
              <a:t>[ACTIVE] substitute_choice: "Organic A2 Milk"  [Settled T3]</a:t>
            </a:r>
          </a:p>
          <a:p>
            <a:pPr>
              <a:spcBef>
                <a:spcPts val="700"/>
              </a:spcBef>
              <a:defRPr sz="950">
                <a:solidFill>
                  <a:srgbClr val="D97706"/>
                </a:solidFill>
                <a:latin typeface="Consolas"/>
              </a:defRPr>
            </a:pPr>
            <a:r>
              <a:t>[POLICY] refund_cap_enforced: "₹1,500 Max"  [Policy Rule]</a:t>
            </a:r>
          </a:p>
          <a:p>
            <a:pPr>
              <a:spcBef>
                <a:spcPts val="700"/>
              </a:spcBef>
              <a:defRPr sz="950">
                <a:solidFill>
                  <a:srgbClr val="CBD5E1"/>
                </a:solidFill>
                <a:latin typeface="Consolas"/>
              </a:defRPr>
            </a:pPr>
            <a:r>
              <a:t>----------------------------------------------------------------  </a:t>
            </a:r>
          </a:p>
          <a:p>
            <a:pPr>
              <a:spcBef>
                <a:spcPts val="700"/>
              </a:spcBef>
              <a:defRPr sz="950">
                <a:solidFill>
                  <a:srgbClr val="E11D48"/>
                </a:solidFill>
                <a:latin typeface="Consolas"/>
              </a:defRPr>
            </a:pPr>
            <a:r>
              <a:t>[PRUNED] Tower B Flat 402  [Superseded T5]</a:t>
            </a:r>
          </a:p>
          <a:p>
            <a:pPr>
              <a:spcBef>
                <a:spcPts val="700"/>
              </a:spcBef>
              <a:defRPr sz="950">
                <a:solidFill>
                  <a:srgbClr val="E11D48"/>
                </a:solidFill>
                <a:latin typeface="Consolas"/>
              </a:defRPr>
            </a:pPr>
            <a:r>
              <a:t>[PRUNED] Clubhouse Reception Gate  [Superseded T9]</a:t>
            </a:r>
          </a:p>
          <a:p>
            <a:pPr>
              <a:spcBef>
                <a:spcPts val="700"/>
              </a:spcBef>
              <a:defRPr sz="950">
                <a:solidFill>
                  <a:srgbClr val="E11D48"/>
                </a:solidFill>
                <a:latin typeface="Consolas"/>
              </a:defRPr>
            </a:pPr>
            <a:r>
              <a:t>[PRUNED] Regular Cow Milk (A1)  [Superseded T3]</a:t>
            </a:r>
          </a:p>
          <a:p>
            <a:pPr>
              <a:spcBef>
                <a:spcPts val="16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t>Result: Downstream LLM receives ONLY active ground truth. Zero hallucination of superseded instructions.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04 / PROTOCOL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Tool Sanitization &amp; Schema Protection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Blind message truncation crashes production agent frameworks. CONTEXTGC guarantees 100% protocol integrity.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463040"/>
            <a:ext cx="4846320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E11D48"/>
                </a:solidFill>
                <a:latin typeface="Arial"/>
              </a:defRPr>
            </a:pPr>
            <a:r>
              <a:t>The Protocol Breakage Trap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In modern agent loops, the assistant invokes tools via structured schemas. If an agent defragmenter blindly drops an intermediate tool message, the OpenAI/Anthropic API throws an immediate fatal error: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788920"/>
            <a:ext cx="4663440" cy="118872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defRPr sz="900">
                <a:solidFill>
                  <a:srgbClr val="E11D48"/>
                </a:solidFill>
                <a:latin typeface="Consolas"/>
              </a:defRPr>
            </a:pPr>
            <a:r>
              <a:t>HTTP 400 Bad Request:</a:t>
            </a:r>
            <a:br/>
            <a:r>
              <a:t>Invalid parameter: 'messages'. An assistant message with 'tool_calls' must be followed by tool messages responding to each tool_call_id.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160520"/>
            <a:ext cx="46634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Why Summarizers Fail: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Generic LLM summarizers compress messages into flat prose, stripping out tool_call_id linkage and immediately breaking agent tool-call execution loops.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Positional Degradation: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500-line tool outputs push earlier instructions out of transformer attention span, triggering catastrophic policy amnesia.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33369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5059375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45920"/>
            <a:ext cx="487649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Schema-Preserving Tombstones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CONTEXTGC replaces superseded tool dumps with minimal 1-line tombstones while strictly preserving tool_call_id and tool name parameters: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788920"/>
            <a:ext cx="4876495" cy="11887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defRPr sz="900">
                <a:solidFill>
                  <a:srgbClr val="059669"/>
                </a:solidFill>
                <a:latin typeface="Consolas"/>
              </a:defRPr>
            </a:pPr>
            <a:r>
              <a:t>{</a:t>
            </a:r>
            <a:br/>
            <a:r>
              <a:t>  "role": "tool",</a:t>
            </a:r>
            <a:br/>
            <a:r>
              <a:t>  "tool_call_id": "call_9f2a",</a:t>
            </a:r>
            <a:br/>
            <a:r>
              <a:t>  "content": "[TOMBSTONE: Superseded catalog output. Resolved at Turn 7.]"</a:t>
            </a:r>
            <a:br/>
            <a: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160520"/>
            <a:ext cx="48764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95.1% Compression Ratio: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25-item supermarket catalog dump distilled from 450 tokens → 22 tokens with zero schema violations.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Resolved Error Pruning: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Detects when a 504 gateway timeout in turn N is resolved by retry in turn N+1, collapsing the error trace safely.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100% Framework Compliance: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Fully compliant with OpenAI, Anthropic, LangChain, AutoGen, and CrewAI schema specifications.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05 / INFERENCE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Radix KV-Cache Friendly Compaction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The Prompt Caching Paradox: Why aggressively cutting tokens can unintentionally multiply your inference costs.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/>
          <a:lstStyle/>
          <a:p>
            <a:pPr algn="ctr">
              <a:defRPr sz="1300" b="1">
                <a:solidFill>
                  <a:srgbClr val="D97706"/>
                </a:solidFill>
                <a:latin typeface="Arial"/>
              </a:defRPr>
            </a:pPr>
            <a:r>
              <a:t>The KV-Cache Prompt Caching Dilemma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Radix Tree Prefix Reuse: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Modern inference engines (vLLM, DeepSeek, Anthropic, OpenAI) offer 50% to 90% cost discounts for identical prompt prefixes via Radix tree KV-cache reuse.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The Invalidation Trap: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If a context defragmenter mutates early or middle turns, it breaks the byte-exact prefix—destroying the cache hit rate and increasing inference latency!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• The Cost Surprise: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You save 40% on tokens, but pay 5x more overall because you lost the 90% cache discount!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463040"/>
            <a:ext cx="484632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33369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82880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Dual-Mode Optimization Engine</a:t>
            </a:r>
          </a:p>
          <a:p>
            <a:pPr>
              <a:spcBef>
                <a:spcPts val="1000"/>
              </a:spcBef>
              <a:defRPr sz="1100" b="1">
                <a:solidFill>
                  <a:srgbClr val="059669"/>
                </a:solidFill>
                <a:latin typeface="Arial"/>
              </a:defRPr>
            </a:pPr>
            <a:r>
              <a:t>mode="compact" (Maximum Token Reduction)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▸ Aggressively prunes all historical dead weight.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▸ Reclaims up to 70.1% of active prompt tokens.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▸ Ideal for non-cached models or when sessions approach hard context limits.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  <a:latin typeface="Arial"/>
              </a:defRPr>
            </a:pPr>
            <a:r>
              <a:t>mode="cache_friendly" (Maximum Cache Hits)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▸ Leaves earlier prompt bytes 100% untouched to preserve Radix tree prefix caches.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▸ Maintains 100% KV-cache hit rates on DeepSeek, vLLM, and Anthropic.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▸ Injects active settled DAG state at the conversation tail.</a:t>
            </a:r>
          </a:p>
          <a:p>
            <a:pPr>
              <a:spcBef>
                <a:spcPts val="1400"/>
              </a:spcBef>
              <a:defRPr sz="950" b="1">
                <a:solidFill>
                  <a:srgbClr val="D97706"/>
                </a:solidFill>
                <a:latin typeface="Arial"/>
              </a:defRPr>
            </a:pPr>
            <a:r>
              <a:t>Developers switch optimization targets with a single configuration flag: patch_openai(mode='cache_friendly')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463040"/>
            <a:ext cx="505937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06 / EMPIRICAL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Side-by-Side Benchmark Showdown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Deterministic evaluation verified across reproducible industrial multi-turn agent execution runs.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468880"/>
                <a:gridCol w="2468880"/>
                <a:gridCol w="2681935"/>
              </a:tblGrid>
              <a:tr h="4114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Benchmark Metric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Vanilla Agent (Rotted Context)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CONTEXTGC Agent (Defragmented)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Measured Advantage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Scenario 1: Operations Crisis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1,592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476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-70.1% Tokens Saved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Scenario 2: Coding Refactor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1,000 tokens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311 tokens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-68.9% Tokens Saved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Turn Inference Latency (TTFT)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750 – 898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454 – 487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+39.8% to +46.8% Faster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GC Interception Latency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 ms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8.2 – 16.1 ms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Deterministic In-Memory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Policy Invariant Violations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100% Failure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0% Violations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100% Bounded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State Resolution Accuracy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0% (Obsolete Hallucinations)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100% (Settled DAG State)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Zero Hallucination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KV-Cache Hit Compatibility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Broken on mutation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t>100% Supported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Dual-Mode Compactor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029200"/>
            <a:ext cx="2487168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/>
          <a:lstStyle/>
          <a:p>
            <a:pPr algn="ctr">
              <a:defRPr sz="2200" b="1">
                <a:solidFill>
                  <a:srgbClr val="059669"/>
                </a:solidFill>
                <a:latin typeface="Arial"/>
              </a:defRPr>
            </a:pPr>
            <a:r>
              <a:t>70.1%</a:t>
            </a:r>
          </a:p>
          <a:p>
            <a:pPr algn="ctr">
              <a:spcBef>
                <a:spcPts val="3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Token Reduction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029200"/>
            <a:ext cx="2212848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5029200"/>
            <a:ext cx="2487168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/>
          <a:lstStyle/>
          <a:p>
            <a:pPr algn="ctr">
              <a:defRPr sz="2200" b="1">
                <a:solidFill>
                  <a:srgbClr val="4F46E5"/>
                </a:solidFill>
                <a:latin typeface="Arial"/>
              </a:defRPr>
            </a:pPr>
            <a:r>
              <a:t>&lt; 15ms</a:t>
            </a:r>
          </a:p>
          <a:p>
            <a:pPr algn="ctr">
              <a:spcBef>
                <a:spcPts val="3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In-Memory GC Latency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5029200"/>
            <a:ext cx="2212848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5029200"/>
            <a:ext cx="2487168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/>
          <a:lstStyle/>
          <a:p>
            <a:pPr algn="ctr">
              <a:defRPr sz="2200" b="1">
                <a:solidFill>
                  <a:srgbClr val="2563EB"/>
                </a:solidFill>
                <a:latin typeface="Arial"/>
              </a:defRPr>
            </a:pPr>
            <a:r>
              <a:t>0%</a:t>
            </a:r>
          </a:p>
          <a:p>
            <a:pPr algn="ctr">
              <a:spcBef>
                <a:spcPts val="3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Policy Drift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5029200"/>
            <a:ext cx="2212848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0" y="5029200"/>
            <a:ext cx="2487168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46304"/>
          <a:lstStyle/>
          <a:p>
            <a:pPr algn="ctr">
              <a:defRPr sz="2200" b="1">
                <a:solidFill>
                  <a:srgbClr val="D97706"/>
                </a:solidFill>
                <a:latin typeface="Arial"/>
              </a:defRPr>
            </a:pPr>
            <a:r>
              <a:t>27 / 27</a:t>
            </a:r>
          </a:p>
          <a:p>
            <a:pPr algn="ctr">
              <a:spcBef>
                <a:spcPts val="3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Passing Pytests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5029200"/>
            <a:ext cx="2212848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07 / DEVELOPER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Turnkey Integration in 60 Seconds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Deploy CONTEXTGC into existing agent infrastructure without code rewrites or complex orchestration.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463040"/>
            <a:ext cx="48463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Option A: 1-Line Python Client SDK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Monkey-patch the official OpenAI client for zero-proxy, zero-network overhead: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468880"/>
            <a:ext cx="466344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900">
                <a:solidFill>
                  <a:srgbClr val="0F172A"/>
                </a:solidFill>
                <a:latin typeface="Consolas"/>
              </a:defRPr>
            </a:pPr>
            <a:r>
              <a:t>from core.client import patch_openai</a:t>
            </a:r>
            <a:br/>
            <a:r>
              <a:t>from openai import OpenAI</a:t>
            </a:r>
            <a:br/>
            <a:br/>
            <a:r>
              <a:t># Intercepts all chat.completions calls locally</a:t>
            </a:r>
            <a:br/>
            <a:r>
              <a:t>patch_openai(mode="compact")</a:t>
            </a:r>
            <a:br/>
            <a:br/>
            <a:r>
              <a:t>client = OpenAI()</a:t>
            </a:r>
            <a:br/>
            <a:r>
              <a:t>response = client.chat.completions.create(</a:t>
            </a:r>
            <a:br/>
            <a:r>
              <a:t>    model="gpt-4o",</a:t>
            </a:r>
            <a:br/>
            <a:r>
              <a:t>    messages=session_history</a:t>
            </a:r>
            <a:br/>
            <a: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70916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✓ Zero extra infrastructure or proxy server required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✓ Transparently preserves return types and streaming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✓ Deterministic sub-15ms local GC execution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33369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5059375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45920"/>
            <a:ext cx="48764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Arial"/>
              </a:defRPr>
            </a:pPr>
            <a:r>
              <a:t>Option B: Drop-in SSE Reverse Proxy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Arial"/>
              </a:defRPr>
            </a:pPr>
            <a:r>
              <a:t>Point Cursor, LangChain, CrewAI, AutoGen, or Claude Code directly to CONTEXTGC: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468880"/>
            <a:ext cx="4876495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850">
                <a:solidFill>
                  <a:srgbClr val="0F172A"/>
                </a:solidFill>
                <a:latin typeface="Consolas"/>
              </a:defRPr>
            </a:pPr>
            <a:r>
              <a:t># Point any agent framework to the CONTEXTGC proxy:</a:t>
            </a:r>
            <a:br/>
            <a:r>
              <a:t>export OPENAI_BASE_URL="https://context-hackdevengers.vercel.app/v1"</a:t>
            </a:r>
            <a:br/>
            <a:r>
              <a:t>export OPENAI_API_KEY="sk-your-openai-key"</a:t>
            </a:r>
            <a:br/>
            <a:br/>
            <a:r>
              <a:t># Standard OpenAI SDK or curl works out-of-the-box</a:t>
            </a:r>
            <a:br/>
            <a:r>
              <a:t>curl -X POST $OPENAI_BASE_URL/chat/completions \</a:t>
            </a:r>
            <a:br/>
            <a:r>
              <a:t>  -H "Authorization: Bearer $OPENAI_API_KEY" \</a:t>
            </a:r>
            <a:br/>
            <a:r>
              <a:t>  -d '{"model": "gpt-4o", "messages": [...]}'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709160"/>
            <a:ext cx="487649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✓ Real-time SSE streaming (stream: true) with chat.completion.chunk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✓ Trailing defrag telemetry headers: x-contextgc-saved-tokens</a:t>
            </a:r>
          </a:p>
          <a:p>
            <a:pPr>
              <a:spcBef>
                <a:spcPts val="5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✓ Deployed serverless on Vercel Edge with zero cold start penalty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08 / PRODUCTION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Production Readiness &amp; Resource Directory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CONTEXTGC transforms long-horizon AI agents into reliable, cost-efficient, enterprise-ready infrastructure.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01568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>
              <a:defRPr sz="1300" b="1">
                <a:solidFill>
                  <a:srgbClr val="2563EB"/>
                </a:solidFill>
                <a:latin typeface="Arial"/>
              </a:defRPr>
            </a:pPr>
            <a:r>
              <a:t>Live Web Dashboard</a:t>
            </a:r>
          </a:p>
          <a:p>
            <a:pPr>
              <a:spcBef>
                <a:spcPts val="400"/>
              </a:spcBef>
              <a:defRPr sz="900" b="1">
                <a:solidFill>
                  <a:srgbClr val="0F172A"/>
                </a:solidFill>
                <a:latin typeface="Consolas"/>
              </a:defRPr>
            </a:pPr>
            <a:r>
              <a:t>https://context-hackdevengers.vercel.app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Interactive split-screen agent showdown.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Visual token flamegraph &amp; savings metrics.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Real-time State DAG inspector &amp; rollbacks.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1-click live execution against GPT-4o.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463040"/>
            <a:ext cx="312724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01568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>
              <a:defRPr sz="1300" b="1">
                <a:solidFill>
                  <a:srgbClr val="4F46E5"/>
                </a:solidFill>
                <a:latin typeface="Arial"/>
              </a:defRPr>
            </a:pPr>
            <a:r>
              <a:t>Interactive Presentation</a:t>
            </a:r>
          </a:p>
          <a:p>
            <a:pPr>
              <a:spcBef>
                <a:spcPts val="400"/>
              </a:spcBef>
              <a:defRPr sz="900" b="1">
                <a:solidFill>
                  <a:srgbClr val="0F172A"/>
                </a:solidFill>
                <a:latin typeface="Consolas"/>
              </a:defRPr>
            </a:pPr>
            <a:r>
              <a:t>https://context-hackdevengers.vercel.app/presentation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Comprehensive architectural slide deck.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Full empirical benchmark comparison sheets.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Detailed failure mode analysis &amp; solutions.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100% editable PPTX &amp; Canva presentations.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463040"/>
            <a:ext cx="3127248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01568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>
              <a:defRPr sz="1300" b="1">
                <a:solidFill>
                  <a:srgbClr val="059669"/>
                </a:solidFill>
                <a:latin typeface="Arial"/>
              </a:defRPr>
            </a:pPr>
            <a:r>
              <a:t>Open-Source Repository</a:t>
            </a:r>
          </a:p>
          <a:p>
            <a:pPr>
              <a:spcBef>
                <a:spcPts val="400"/>
              </a:spcBef>
              <a:defRPr sz="900" b="1">
                <a:solidFill>
                  <a:srgbClr val="0F172A"/>
                </a:solidFill>
                <a:latin typeface="Consolas"/>
              </a:defRPr>
            </a:pPr>
            <a:r>
              <a:t>https://github.com/j4yop/context-hackdevengers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27 automated pytests passing.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Drop-in FastAPI proxy &amp; Python SDK.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Clean architecture, fully typed &amp; documented.</a:t>
            </a:r>
          </a:p>
          <a:p>
            <a:pPr>
              <a:spcBef>
                <a:spcPts val="7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Ready for immediate production deployment.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80" y="1463040"/>
            <a:ext cx="3127248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5559552"/>
            <a:ext cx="10728655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050" b="1">
                <a:solidFill>
                  <a:srgbClr val="2563EB"/>
                </a:solidFill>
                <a:latin typeface="Consolas"/>
              </a:defRPr>
            </a:pPr>
            <a:r>
              <a:t>Run Local Benchmark Showdown: python3 demo/interactive_demo.py  (Deterministic sub-15ms terminal execution)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