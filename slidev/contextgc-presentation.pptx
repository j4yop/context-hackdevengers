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4572000" cy="365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000" b="1">
                <a:solidFill>
                  <a:srgbClr val="38BDF8"/>
                </a:solidFill>
                <a:latin typeface="Consolas"/>
              </a:defRPr>
            </a:pPr>
            <a:r>
              <a:t>🏆 HACK DEVENGERS 2.0 · OPEN INNOVATION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2865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⚡ ContextGC</a:t>
            </a:r>
          </a:p>
          <a:p>
            <a:pPr>
              <a:spcBef>
                <a:spcPts val="600"/>
              </a:spcBef>
              <a:defRPr sz="2000" b="1">
                <a:solidFill>
                  <a:srgbClr val="38BDF8"/>
                </a:solidFill>
                <a:latin typeface="Arial"/>
              </a:defRPr>
            </a:pPr>
            <a:r>
              <a:t>Autonomous Semantic Context Defragmenter for AI Agents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Eliminating Context Rot, Policy Drift, and 70% of Redundant Tokens with Deterministic Causal Garbage Collection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91840"/>
            <a:ext cx="2487168" cy="14630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2600" b="1">
                <a:solidFill>
                  <a:srgbClr val="34D399"/>
                </a:solidFill>
                <a:latin typeface="Consolas"/>
              </a:defRPr>
            </a:pPr>
            <a:r>
              <a:t>70.1%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Token Reduction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Prunes superseded branches &amp; dead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3291840"/>
            <a:ext cx="2487168" cy="14630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2600" b="1">
                <a:solidFill>
                  <a:srgbClr val="34D399"/>
                </a:solidFill>
                <a:latin typeface="Consolas"/>
              </a:defRPr>
            </a:pPr>
            <a:r>
              <a:t>0%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Policy Drift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Pins hard security &amp; financial invariants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291840"/>
            <a:ext cx="2487168" cy="14630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2600" b="1">
                <a:solidFill>
                  <a:srgbClr val="38BDF8"/>
                </a:solidFill>
                <a:latin typeface="Consolas"/>
              </a:defRPr>
            </a:pPr>
            <a:r>
              <a:t>&lt; 15ms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In-Memory Overhead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Pure Python, zero network roundtrip GC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3291840"/>
            <a:ext cx="2487168" cy="146304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2600" b="1">
                <a:solidFill>
                  <a:srgbClr val="FBBF24"/>
                </a:solidFill>
                <a:latin typeface="Consolas"/>
              </a:defRPr>
            </a:pPr>
            <a:r>
              <a:t>100%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Arial"/>
              </a:defRPr>
            </a:pPr>
            <a:r>
              <a:t>KV-Cache Friendly</a:t>
            </a:r>
          </a:p>
          <a:p>
            <a:pPr>
              <a:spcBef>
                <a:spcPts val="4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Preserves exact prefix for Radix tree hits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Consolas"/>
              </a:defRPr>
            </a:pPr>
            <a:r>
              <a:t>Architect: Jay Gopal Tripathy (@j4yop)   ·   GitHub: github.com/j4yop/context-hackdevengers   ·   Live on Vercel Edge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🛑 The Problem: "Context Rot" in AI Agents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1M+ token windows solve raw capacity, NOT attention quality. Multi-turn operational sludge quietly degrades agent intelligence.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01568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300" b="1">
                <a:solidFill>
                  <a:srgbClr val="F43F5E"/>
                </a:solidFill>
                <a:latin typeface="Arial"/>
              </a:defRPr>
            </a:pPr>
            <a:r>
              <a:t>💸 1. Economic &amp; Latency Tax</a:t>
            </a:r>
          </a:p>
          <a:p>
            <a:pPr>
              <a:spcBef>
                <a:spcPts val="600"/>
              </a:spcBef>
              <a:defRPr sz="3200" b="1">
                <a:solidFill>
                  <a:srgbClr val="FFFFFF"/>
                </a:solidFill>
                <a:latin typeface="Consolas"/>
              </a:defRPr>
            </a:pPr>
            <a:r>
              <a:t>74%</a:t>
            </a:r>
          </a:p>
          <a:p>
            <a:pPr>
              <a:spcBef>
                <a:spcPts val="100"/>
              </a:spcBef>
              <a:defRPr sz="950" b="1">
                <a:solidFill>
                  <a:srgbClr val="F43F5E"/>
                </a:solidFill>
                <a:latin typeface="Consolas"/>
              </a:defRPr>
            </a:pPr>
            <a:r>
              <a:t>DEAD TOKENS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Over 70% of prompt tokens in long sessions are dead weight: superseded instructions, 500-line JSON dumps, and resolved stack traces.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Paid for repeatedly on every single turn, creating a linear cost explosion as agent conversations progress.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Balloons Time-To-First-Token (TTFT) by hundreds of milliseconds, degrading interactive responsiveness.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401568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300" b="1">
                <a:solidFill>
                  <a:srgbClr val="FBBF24"/>
                </a:solidFill>
                <a:latin typeface="Arial"/>
              </a:defRPr>
            </a:pPr>
            <a:r>
              <a:t>🌪️ 2. "Lost in the Middle" Drift</a:t>
            </a:r>
          </a:p>
          <a:p>
            <a:pPr>
              <a:spcBef>
                <a:spcPts val="600"/>
              </a:spcBef>
              <a:defRPr sz="3200" b="1">
                <a:solidFill>
                  <a:srgbClr val="FFFFFF"/>
                </a:solidFill>
                <a:latin typeface="Consolas"/>
              </a:defRPr>
            </a:pPr>
            <a:r>
              <a:t>&gt; 80%</a:t>
            </a:r>
          </a:p>
          <a:p>
            <a:pPr>
              <a:spcBef>
                <a:spcPts val="100"/>
              </a:spcBef>
              <a:defRPr sz="950" b="1">
                <a:solidFill>
                  <a:srgbClr val="FBBF24"/>
                </a:solidFill>
                <a:latin typeface="Consolas"/>
              </a:defRPr>
            </a:pPr>
            <a:r>
              <a:t>ATTENTION DEGRADE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Transformer attention mechanisms collapse over noisy middle turns (Lost-in-the-Middle phenomenon).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When users update goals mid-session (e.g. changing delivery address 3 times), agents suffer recency collisions.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Agents hallucinate and act on obsolete variables: delivering to old gates or calling deprecated database ports.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401568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300" b="1">
                <a:solidFill>
                  <a:srgbClr val="A78BFA"/>
                </a:solidFill>
                <a:latin typeface="Arial"/>
              </a:defRPr>
            </a:pPr>
            <a:r>
              <a:t>🚨 3. Policy Invariant Erosion</a:t>
            </a:r>
          </a:p>
          <a:p>
            <a:pPr>
              <a:spcBef>
                <a:spcPts val="600"/>
              </a:spcBef>
              <a:defRPr sz="3200" b="1">
                <a:solidFill>
                  <a:srgbClr val="FFFFFF"/>
                </a:solidFill>
                <a:latin typeface="Consolas"/>
              </a:defRPr>
            </a:pPr>
            <a:r>
              <a:t>0% Safe</a:t>
            </a:r>
          </a:p>
          <a:p>
            <a:pPr>
              <a:spcBef>
                <a:spcPts val="100"/>
              </a:spcBef>
              <a:defRPr sz="950" b="1">
                <a:solidFill>
                  <a:srgbClr val="A78BFA"/>
                </a:solidFill>
                <a:latin typeface="Consolas"/>
              </a:defRPr>
            </a:pPr>
            <a:r>
              <a:t>COMPLIANCE BREAK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Critical system rules (financial caps, privacy boundaries, safety guardrails) fade under massive token context.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Agents quietly violate hard constraints: issuing unauthorized ₹800 refunds or dumping raw API keys to debug.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Multi-turn conversational sludge completely erodes developer-defined safety guarantees.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32120"/>
            <a:ext cx="10728655" cy="685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38BDF8"/>
                </a:solidFill>
                <a:latin typeface="Arial"/>
              </a:defRPr>
            </a:pPr>
            <a:r>
              <a:t>💡 Key Architectural Takeaway: 1M token windows solve capacity, NOT attention quality. AI agents don't need infinite memory; they need systems-level context garbage collection.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🏗️ Visual Structure &amp; System Architecture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ContextGC operates as an inline, deterministic semantic garbage collector between agent frameworks and LLM runtimes.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017520" cy="29260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1200" b="1">
                <a:solidFill>
                  <a:srgbClr val="38BDF8"/>
                </a:solidFill>
                <a:latin typeface="Arial"/>
              </a:defRPr>
            </a:pPr>
            <a:r>
              <a:t>📥 1. INGESTION TIER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▸ User Prompts</a:t>
            </a:r>
          </a:p>
          <a:p>
            <a:pPr>
              <a:spcBef>
                <a:spcPts val="1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Multi-turn goals, constraints &amp; updates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▸ Tool Logs &amp; Dumps</a:t>
            </a:r>
          </a:p>
          <a:p>
            <a:pPr>
              <a:spcBef>
                <a:spcPts val="1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JSON payloads, API responses &amp; stack traces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▸ System Invariants</a:t>
            </a:r>
          </a:p>
          <a:p>
            <a:pPr>
              <a:spcBef>
                <a:spcPts val="1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Hard financial, security &amp; policy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94760" y="2468880"/>
            <a:ext cx="457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38BDF8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371600"/>
            <a:ext cx="3657600" cy="2926080"/>
          </a:xfrm>
          <a:prstGeom prst="roundRect">
            <a:avLst/>
          </a:prstGeom>
          <a:solidFill>
            <a:srgbClr val="131B2E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1200" b="1">
                <a:solidFill>
                  <a:srgbClr val="6366F1"/>
                </a:solidFill>
                <a:latin typeface="Arial"/>
              </a:defRPr>
            </a:pPr>
            <a:r>
              <a:t>⚡ 2. CONTEXTGC ENGINE  (&lt; 15ms)</a:t>
            </a:r>
          </a:p>
          <a:p>
            <a:pPr>
              <a:spcBef>
                <a:spcPts val="5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1. State DAG: Causal fact invalidation &amp; branch pruning</a:t>
            </a:r>
          </a:p>
          <a:p>
            <a:pPr>
              <a:spcBef>
                <a:spcPts val="5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2. Tool Sanitizer: Protocol-safe schema tombstones (-95%)</a:t>
            </a:r>
          </a:p>
          <a:p>
            <a:pPr>
              <a:spcBef>
                <a:spcPts val="5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3. Policy Anchors: Recency attention boundary re-injection</a:t>
            </a:r>
          </a:p>
          <a:p>
            <a:pPr>
              <a:spcBef>
                <a:spcPts val="5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4. Episodic Vector: Cold turn storage &amp; BM25/Cosine recall</a:t>
            </a:r>
          </a:p>
          <a:p>
            <a:pPr>
              <a:spcBef>
                <a:spcPts val="5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5. Dual Compactor: Token minimization vs KV-cache hits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2468880"/>
            <a:ext cx="457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34D399"/>
                </a:solidFill>
                <a:latin typeface="Arial"/>
              </a:defRPr>
            </a:pPr>
            <a:r>
              <a:t>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371600"/>
            <a:ext cx="2956255" cy="29260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46304"/>
          <a:lstStyle/>
          <a:p>
            <a:pPr algn="ctr">
              <a:defRPr sz="1200" b="1">
                <a:solidFill>
                  <a:srgbClr val="34D399"/>
                </a:solidFill>
                <a:latin typeface="Arial"/>
              </a:defRPr>
            </a:pPr>
            <a:r>
              <a:t>🚀 3. DELIVERY &amp; LLM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▸ SSE Streaming Proxy</a:t>
            </a:r>
          </a:p>
          <a:p>
            <a:pPr>
              <a:spcBef>
                <a:spcPts val="1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/v1/chat/completions drop-in endpoint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▸ 1-Line Python SDK</a:t>
            </a:r>
          </a:p>
          <a:p>
            <a:pPr>
              <a:spcBef>
                <a:spcPts val="1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patch_openai(mode='compact')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▸ Downstream LLMs</a:t>
            </a:r>
          </a:p>
          <a:p>
            <a:pPr>
              <a:spcBef>
                <a:spcPts val="100"/>
              </a:spcBef>
              <a:defRPr sz="950">
                <a:solidFill>
                  <a:srgbClr val="94A3B8"/>
                </a:solidFill>
                <a:latin typeface="Arial"/>
              </a:defRPr>
            </a:pPr>
            <a:r>
              <a:t>GPT-4o, Claude 3.7, DeepSeek V3, vLLM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480560"/>
            <a:ext cx="2487168" cy="1600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>
              <a:defRPr sz="1150" b="1">
                <a:solidFill>
                  <a:srgbClr val="38BDF8"/>
                </a:solidFill>
                <a:latin typeface="Arial"/>
              </a:defRPr>
            </a:pPr>
            <a:r>
              <a:t>1. State DAG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Prunes superseded branches in causal order (Tower B → Clubhouse → Gate 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480560"/>
            <a:ext cx="2487168" cy="1600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>
              <a:defRPr sz="1150" b="1">
                <a:solidFill>
                  <a:srgbClr val="34D399"/>
                </a:solidFill>
                <a:latin typeface="Arial"/>
              </a:defRPr>
            </a:pPr>
            <a:r>
              <a:t>2. Tool Sanitizer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Replaces resolved errors with tombstones while preserving tool_call_id.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480560"/>
            <a:ext cx="2487168" cy="1600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>
              <a:defRPr sz="1150" b="1">
                <a:solidFill>
                  <a:srgbClr val="FBBF24"/>
                </a:solidFill>
                <a:latin typeface="Arial"/>
              </a:defRPr>
            </a:pPr>
            <a:r>
              <a:t>3. Policy Anchors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Pins non-negotiable financial &amp; security rules at recency attention boundary.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4480560"/>
            <a:ext cx="2487168" cy="16002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28016"/>
          <a:lstStyle/>
          <a:p>
            <a:pPr algn="ctr">
              <a:defRPr sz="1150" b="1">
                <a:solidFill>
                  <a:srgbClr val="A78BFA"/>
                </a:solidFill>
                <a:latin typeface="Arial"/>
              </a:defRPr>
            </a:pPr>
            <a:r>
              <a:t>4. Episodic Vector</a:t>
            </a:r>
          </a:p>
          <a:p>
            <a:pPr>
              <a:spcBef>
                <a:spcPts val="4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Archives cold history into 768-dim table for sub-ms JIT semantic recall.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🧠 Engine 1: Neuro-Symbolic State DAG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Why naive RAG and summarizers fail: They understand similarity, not causality.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82880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Causal Branch Resolution Mechanics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Entity Mutation Graph:</a:t>
            </a:r>
          </a:p>
          <a:p>
            <a:pPr>
              <a:spcBef>
                <a:spcPts val="1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Scans user and agent turns for slot updates (addresses, ports, keys) with preceding 50-character negation windows.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Immutable Guardrails:</a:t>
            </a:r>
          </a:p>
          <a:p>
            <a:pPr>
              <a:spcBef>
                <a:spcPts val="1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Critical user constraints (e.g. 'NO PEANUTS', spending caps) are permanently anchored against overrides.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Dead-Branch Eviction:</a:t>
            </a:r>
          </a:p>
          <a:p>
            <a:pPr>
              <a:spcBef>
                <a:spcPts val="1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Once Turn 9 confirms Gate 2, Turn 1 (Tower B) and Turn 5 (Clubhouse) are recognized as dead branches and pruned from active tokens.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Transactional Rollback:</a:t>
            </a:r>
          </a:p>
          <a:p>
            <a:pPr>
              <a:spcBef>
                <a:spcPts val="1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Supports dag.rollback_to(turn_id) to instantly restore prior states on tool failure without confusing the model.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Zero DAG Pollution:</a:t>
            </a:r>
          </a:p>
          <a:p>
            <a:pPr>
              <a:spcBef>
                <a:spcPts val="1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Heuristic filtering prevents transient tool inventory dumps from polluting the state graph.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371600"/>
            <a:ext cx="5333695" cy="48463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82880"/>
          <a:lstStyle/>
          <a:p>
            <a:pPr algn="ctr">
              <a:defRPr sz="1100" b="1">
                <a:solidFill>
                  <a:srgbClr val="64748B"/>
                </a:solidFill>
                <a:latin typeface="Consolas"/>
              </a:defRPr>
            </a:pPr>
            <a:r>
              <a:t>// Active DAG State Snapshot (Live In-Memory State)</a:t>
            </a:r>
          </a:p>
          <a:p>
            <a:pPr>
              <a:spcBef>
                <a:spcPts val="800"/>
              </a:spcBef>
              <a:defRPr sz="1050">
                <a:solidFill>
                  <a:srgbClr val="34D399"/>
                </a:solidFill>
                <a:latin typeface="Consolas"/>
              </a:defRPr>
            </a:pPr>
            <a:r>
              <a:t>✓ destination_address: "Gate 2 Security Entrance"  [Settled Turn 9]</a:t>
            </a:r>
          </a:p>
          <a:p>
            <a:pPr>
              <a:spcBef>
                <a:spcPts val="800"/>
              </a:spcBef>
              <a:defRPr sz="1050">
                <a:solidFill>
                  <a:srgbClr val="34D399"/>
                </a:solidFill>
                <a:latin typeface="Consolas"/>
              </a:defRPr>
            </a:pPr>
            <a:r>
              <a:t>✓ gate_code: "4921"  [Settled Turn 9]</a:t>
            </a:r>
          </a:p>
          <a:p>
            <a:pPr>
              <a:spcBef>
                <a:spcPts val="800"/>
              </a:spcBef>
              <a:defRPr sz="1050">
                <a:solidFill>
                  <a:srgbClr val="38BDF8"/>
                </a:solidFill>
                <a:latin typeface="Consolas"/>
              </a:defRPr>
            </a:pPr>
            <a:r>
              <a:t>✓ dietary_allergy: "NO PEANUTS"  [IMMUTABLE GUARD]</a:t>
            </a:r>
          </a:p>
          <a:p>
            <a:pPr>
              <a:spcBef>
                <a:spcPts val="800"/>
              </a:spcBef>
              <a:defRPr sz="1050">
                <a:solidFill>
                  <a:srgbClr val="34D399"/>
                </a:solidFill>
                <a:latin typeface="Consolas"/>
              </a:defRPr>
            </a:pPr>
            <a:r>
              <a:t>✓ substitute_choice: "Organic A2 Milk"  [Settled Turn 3]</a:t>
            </a:r>
          </a:p>
          <a:p>
            <a:pPr>
              <a:spcBef>
                <a:spcPts val="800"/>
              </a:spcBef>
              <a:defRPr sz="1050">
                <a:solidFill>
                  <a:srgbClr val="FBBF24"/>
                </a:solidFill>
                <a:latin typeface="Consolas"/>
              </a:defRPr>
            </a:pPr>
            <a:r>
              <a:t>✓ refund_cap_enforced: "₹1,500 Max"  [Policy Invariant]</a:t>
            </a:r>
          </a:p>
          <a:p>
            <a:pPr>
              <a:spcBef>
                <a:spcPts val="800"/>
              </a:spcBef>
              <a:defRPr sz="1050">
                <a:solidFill>
                  <a:srgbClr val="1E293B"/>
                </a:solidFill>
                <a:latin typeface="Consolas"/>
              </a:defRPr>
            </a:pPr>
            <a:r>
              <a:t>----------------------------------------------------------------  </a:t>
            </a:r>
          </a:p>
          <a:p>
            <a:pPr>
              <a:spcBef>
                <a:spcPts val="800"/>
              </a:spcBef>
              <a:defRPr sz="1050">
                <a:solidFill>
                  <a:srgbClr val="F43F5E"/>
                </a:solidFill>
                <a:latin typeface="Consolas"/>
              </a:defRPr>
            </a:pPr>
            <a:r>
              <a:t>✗ Pruned: Tower B Flat 402  [Superseded at Turn 5]</a:t>
            </a:r>
          </a:p>
          <a:p>
            <a:pPr>
              <a:spcBef>
                <a:spcPts val="800"/>
              </a:spcBef>
              <a:defRPr sz="1050">
                <a:solidFill>
                  <a:srgbClr val="F43F5E"/>
                </a:solidFill>
                <a:latin typeface="Consolas"/>
              </a:defRPr>
            </a:pPr>
            <a:r>
              <a:t>✗ Pruned: Clubhouse Reception Gate  [Superseded at Turn 9]</a:t>
            </a:r>
          </a:p>
          <a:p>
            <a:pPr>
              <a:spcBef>
                <a:spcPts val="800"/>
              </a:spcBef>
              <a:defRPr sz="1050">
                <a:solidFill>
                  <a:srgbClr val="F43F5E"/>
                </a:solidFill>
                <a:latin typeface="Consolas"/>
              </a:defRPr>
            </a:pPr>
            <a:r>
              <a:t>✗ Pruned: Regular Cow Milk (A1)  [Superseded at Turn 3]</a:t>
            </a:r>
          </a:p>
          <a:p>
            <a:pPr>
              <a:spcBef>
                <a:spcPts val="1800"/>
              </a:spcBef>
              <a:defRPr sz="1000" b="1">
                <a:solidFill>
                  <a:srgbClr val="38BDF8"/>
                </a:solidFill>
                <a:latin typeface="Arial"/>
              </a:defRPr>
            </a:pPr>
            <a:r>
              <a:t>Result: Downstream LLM receives ONLY active ground truth. Zero hallucination of superseded instructions.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🛡️ Engine 2: Tool Sanitizer &amp; Protocol Safety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Blind context truncation breaks autonomous agents. ContextGC guarantees 100% protocol compliance.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663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F43F5E"/>
                </a:solidFill>
                <a:latin typeface="Arial"/>
              </a:defRPr>
            </a:pPr>
            <a:r>
              <a:t>The OpenAI Protocol Trap</a:t>
            </a:r>
          </a:p>
          <a:p>
            <a:pPr>
              <a:spcBef>
                <a:spcPts val="4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In modern agent loops, the assistant invokes tools via structured schemas. If an agent defragmenter blindly drops an intermediate tool message, the OpenAI/Anthropic API throws an immediate fatal error: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697480"/>
            <a:ext cx="4663440" cy="1280160"/>
          </a:xfrm>
          <a:prstGeom prst="roundRect">
            <a:avLst/>
          </a:prstGeom>
          <a:solidFill>
            <a:srgbClr val="230A0F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defRPr sz="950">
                <a:solidFill>
                  <a:srgbClr val="F43F5E"/>
                </a:solidFill>
                <a:latin typeface="Consolas"/>
              </a:defRPr>
            </a:pPr>
            <a:r>
              <a:t>HTTP 400 Bad Request:</a:t>
            </a:r>
            <a:br/>
            <a:r>
              <a:t>Invalid parameter: 'messages'. An assistant message with 'tool_calls' must be followed by tool messages responding to each tool_call_id.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60520"/>
            <a:ext cx="4663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Why Summarizers Fail: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Generic LLM summarizers compress messages into flat prose, stripping out tool_call_id linkage and immediately breaking agent tool-call execution loops.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Positional Degradation:</a:t>
            </a:r>
          </a:p>
          <a:p>
            <a:pPr>
              <a:spcBef>
                <a:spcPts val="2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500-line tool outputs push earlier instructions out of transformer attention span, triggering catastrophic policy amnesia.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33695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54480"/>
            <a:ext cx="48764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Arial"/>
              </a:defRPr>
            </a:pPr>
            <a:r>
              <a:t>ContextGC Semantic Tombstoning</a:t>
            </a:r>
          </a:p>
          <a:p>
            <a:pPr>
              <a:spcBef>
                <a:spcPts val="4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ContextGC replaces superseded tool dumps with minimal 1-line tombstones while strictly preserving tool_call_id and tool name parameters: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697480"/>
            <a:ext cx="4876495" cy="1280160"/>
          </a:xfrm>
          <a:prstGeom prst="roundRect">
            <a:avLst/>
          </a:prstGeom>
          <a:solidFill>
            <a:srgbClr val="0A1E1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defRPr sz="950">
                <a:solidFill>
                  <a:srgbClr val="34D399"/>
                </a:solidFill>
                <a:latin typeface="Consolas"/>
              </a:defRPr>
            </a:pPr>
            <a:r>
              <a:t>{</a:t>
            </a:r>
            <a:br/>
            <a:r>
              <a:t>  "role": "tool",</a:t>
            </a:r>
            <a:br/>
            <a:r>
              <a:t>  "tool_call_id": "call_9f2a",</a:t>
            </a:r>
            <a:br/>
            <a:r>
              <a:t>  "content": "[TOMBSTONE: Superseded catalog output. Resolved at Turn 7.]"</a:t>
            </a:r>
            <a:br/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160520"/>
            <a:ext cx="4876495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95.1% Compression:</a:t>
            </a:r>
          </a:p>
          <a:p>
            <a:pPr>
              <a:spcBef>
                <a:spcPts val="1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25-item supermarket catalog dump distilled from 450 tokens → 22 tokens with zero schema violations.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Resolved Error Pruning:</a:t>
            </a:r>
          </a:p>
          <a:p>
            <a:pPr>
              <a:spcBef>
                <a:spcPts val="1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Detects when a 504 gateway timeout in turn N is resolved by retry in turn N+1, collapsing the error trace safely.</a:t>
            </a:r>
          </a:p>
          <a:p>
            <a:pPr>
              <a:spcBef>
                <a:spcPts val="6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100% Framework Compatible:</a:t>
            </a:r>
          </a:p>
          <a:p>
            <a:pPr>
              <a:spcBef>
                <a:spcPts val="1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Fully compliant with OpenAI, Anthropic, LangChain, AutoGen, and CrewAI schema requirements.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⚡ Engine 3: Radix KV-Cache Friendly Compaction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The Prompt Caching Paradox: Why cutting tokens can sometimes cost you money.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82880"/>
          <a:lstStyle/>
          <a:p>
            <a:pPr algn="ctr">
              <a:defRPr sz="1400" b="1">
                <a:solidFill>
                  <a:srgbClr val="FBBF24"/>
                </a:solidFill>
                <a:latin typeface="Arial"/>
              </a:defRPr>
            </a:pPr>
            <a:r>
              <a:t>The Prompt Caching Dilemma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Radix Tree Prefix Reuse:</a:t>
            </a:r>
          </a:p>
          <a:p>
            <a:pPr>
              <a:spcBef>
                <a:spcPts val="2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Modern inference engines (vLLM, DeepSeek, Anthropic, OpenAI) offer 50% to 90% cost discounts for identical prompt prefixes via Radix tree KV-cache reuse.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The Invalidation Trap:</a:t>
            </a:r>
          </a:p>
          <a:p>
            <a:pPr>
              <a:spcBef>
                <a:spcPts val="2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If a context defragmenter mutates early or middle turns, it invalidates the byte-exact prefix—destroying the cache hit rate and increasing inference latency!</a:t>
            </a:r>
          </a:p>
          <a:p>
            <a:pPr>
              <a:spcBef>
                <a:spcPts val="10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• The Cost Surprise:</a:t>
            </a:r>
          </a:p>
          <a:p>
            <a:pPr>
              <a:spcBef>
                <a:spcPts val="2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You save 40% on tokens, but pay 5x more because you lost the 90% cache discount!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371600"/>
            <a:ext cx="5333695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219456" tIns="182880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ContextGC Dual-Mode Solution</a:t>
            </a:r>
          </a:p>
          <a:p>
            <a:pPr>
              <a:spcBef>
                <a:spcPts val="1200"/>
              </a:spcBef>
              <a:defRPr sz="1100" b="1">
                <a:solidFill>
                  <a:srgbClr val="34D399"/>
                </a:solidFill>
                <a:latin typeface="Consolas"/>
              </a:defRPr>
            </a:pPr>
            <a:r>
              <a:t>mode="compact" (Maximum Token Savings)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▸ Aggressively prunes all historical dead weight.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▸ Reclaims up to 70.1% of active prompt tokens.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▸ Ideal for models without prefix caching or when sessions approach hard context limits.</a:t>
            </a:r>
          </a:p>
          <a:p>
            <a:pPr>
              <a:spcBef>
                <a:spcPts val="1200"/>
              </a:spcBef>
              <a:defRPr sz="1100" b="1">
                <a:solidFill>
                  <a:srgbClr val="38BDF8"/>
                </a:solidFill>
                <a:latin typeface="Consolas"/>
              </a:defRPr>
            </a:pPr>
            <a:r>
              <a:t>mode="cache_friendly" (Maximum Cache Hits)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▸ Leaves earlier prompt bytes 100% untouched to preserve Radix tree prefix caches.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▸ Maintains 100% KV-cache hit rates on DeepSeek, vLLM, and Anthropic.</a:t>
            </a:r>
          </a:p>
          <a:p>
            <a:pPr>
              <a:spcBef>
                <a:spcPts val="300"/>
              </a:spcBef>
              <a:defRPr sz="950">
                <a:solidFill>
                  <a:srgbClr val="F1F5F9"/>
                </a:solidFill>
                <a:latin typeface="Arial"/>
              </a:defRPr>
            </a:pPr>
            <a:r>
              <a:t>▸ Injects active settled DAG state at the conversation tail.</a:t>
            </a:r>
          </a:p>
          <a:p>
            <a:pPr>
              <a:spcBef>
                <a:spcPts val="1400"/>
              </a:spcBef>
              <a:defRPr sz="950" b="1">
                <a:solidFill>
                  <a:srgbClr val="FBBF24"/>
                </a:solidFill>
                <a:latin typeface="Consolas"/>
              </a:defRPr>
            </a:pPr>
            <a:r>
              <a:t>Developers switch optimization targets with a single configuration flag: patch_openai(mode='cache_friendly')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📊 Empirical Benchmarks: Side-by-Side Showdown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Deterministic evaluation verified across industrial multi-turn agent execution runs.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468880"/>
                <a:gridCol w="2468880"/>
                <a:gridCol w="2681935"/>
              </a:tblGrid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Benchmark 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Vanilla Agent (Rotted Context)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ContextGC Agent (Defragmented)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Measured Advantage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Scenario 1: Operations Crisis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1,592 tokens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476 tokens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-70.1% Tokens Saved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Scenario 2: Coding Refactor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1,000 tokens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311 tokens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-68.9% Tokens Saved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Turn Inference Latency (TTFT)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750 – 898 ms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454 – 487 ms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+39.8% to +46.8% Faster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GC Interception 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8.2 – 16.1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Deterministic In-Memory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Policy Invariant Violations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100% Failure Rate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0% Violations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100% Bounded Compliance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State Resolution 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0% (Obsolete Hallucinations)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100% (Settled DAG State)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Zero Hallucination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KV-Cache Hit Compatibility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1F5F9"/>
                          </a:solidFill>
                          <a:latin typeface="Arial"/>
                        </a:defRPr>
                      </a:pPr>
                      <a:r>
                        <a:t>Broken on mutation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100% Supported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4D399"/>
                          </a:solidFill>
                          <a:latin typeface="Arial"/>
                        </a:defRPr>
                      </a:pPr>
                      <a:r>
                        <a:t>Dual-Mode Compactor</a:t>
                      </a:r>
                    </a:p>
                  </a:txBody>
                  <a:tcPr>
                    <a:solidFill>
                      <a:srgbClr val="131B2E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1520" y="4983480"/>
            <a:ext cx="2487168" cy="11887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>
              <a:defRPr sz="2200" b="1">
                <a:solidFill>
                  <a:srgbClr val="34D399"/>
                </a:solidFill>
                <a:latin typeface="Consolas"/>
              </a:defRPr>
            </a:pPr>
            <a:r>
              <a:t>70.1%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Token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4983480"/>
            <a:ext cx="2487168" cy="11887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>
              <a:defRPr sz="2200" b="1">
                <a:solidFill>
                  <a:srgbClr val="6366F1"/>
                </a:solidFill>
                <a:latin typeface="Consolas"/>
              </a:defRPr>
            </a:pPr>
            <a:r>
              <a:t>&lt; 15ms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In-Memory GC Latency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983480"/>
            <a:ext cx="2487168" cy="11887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>
              <a:defRPr sz="2200" b="1">
                <a:solidFill>
                  <a:srgbClr val="38BDF8"/>
                </a:solidFill>
                <a:latin typeface="Consolas"/>
              </a:defRPr>
            </a:pPr>
            <a:r>
              <a:t>0%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Policy Drift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4983480"/>
            <a:ext cx="2487168" cy="11887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6304"/>
          <a:lstStyle/>
          <a:p>
            <a:pPr algn="ctr">
              <a:defRPr sz="2200" b="1">
                <a:solidFill>
                  <a:srgbClr val="A78BFA"/>
                </a:solidFill>
                <a:latin typeface="Consolas"/>
              </a:defRPr>
            </a:pPr>
            <a:r>
              <a:t>27 / 27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  <a:latin typeface="Arial"/>
              </a:defRPr>
            </a:pPr>
            <a:r>
              <a:t>Passing Pytests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🔌 Developer Ergonomics: Integration in 60 Seconds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Deploy ContextGC with zero friction via two turnkey integration patterns.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8BDF8"/>
                </a:solidFill>
                <a:latin typeface="Arial"/>
              </a:defRPr>
            </a:pPr>
            <a:r>
              <a:t>Option A: 1-Line Python Client SDK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Monkey-patch the official OpenAI client for zero-proxy, zero-network overhead: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377440"/>
            <a:ext cx="466344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950">
                <a:solidFill>
                  <a:srgbClr val="38BDF8"/>
                </a:solidFill>
                <a:latin typeface="Consolas"/>
              </a:defRPr>
            </a:pPr>
            <a:r>
              <a:t>from core.client import patch_openai</a:t>
            </a:r>
            <a:br/>
            <a:r>
              <a:t>from openai import OpenAI</a:t>
            </a:r>
            <a:br/>
            <a:br/>
            <a:r>
              <a:t># Intercepts all chat.completions calls</a:t>
            </a:r>
            <a:br/>
            <a:r>
              <a:t>patch_openai(mode="compact")</a:t>
            </a:r>
            <a:br/>
            <a:br/>
            <a:r>
              <a:t>client = OpenAI()</a:t>
            </a:r>
            <a:br/>
            <a:r>
              <a:t>response = client.chat.completions.create(</a:t>
            </a:r>
            <a:br/>
            <a:r>
              <a:t>    model="gpt-4o",</a:t>
            </a:r>
            <a:br/>
            <a:r>
              <a:t>    messages=session_history</a:t>
            </a:r>
            <a:br/>
            <a: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66344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✓ Zero extra infrastructure or proxy server required</a:t>
            </a:r>
          </a:p>
          <a:p>
            <a:pPr>
              <a:spcBef>
                <a:spcPts val="6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✓ Transparently preserves return types and streaming</a:t>
            </a:r>
          </a:p>
          <a:p>
            <a:pPr>
              <a:spcBef>
                <a:spcPts val="6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✓ Deterministic sub-15ms local GC execution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333695" cy="48463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554480"/>
            <a:ext cx="48764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4D399"/>
                </a:solidFill>
                <a:latin typeface="Arial"/>
              </a:defRPr>
            </a:pPr>
            <a:r>
              <a:t>Option B: Drop-in SSE Reverse Proxy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Arial"/>
              </a:defRPr>
            </a:pPr>
            <a:r>
              <a:t>Point Cursor, LangChain, CrewAI, AutoGen, or Claude Code directly to ContextGC: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377440"/>
            <a:ext cx="4876495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09728"/>
          <a:lstStyle/>
          <a:p>
            <a:pPr algn="ctr">
              <a:defRPr sz="900">
                <a:solidFill>
                  <a:srgbClr val="34D399"/>
                </a:solidFill>
                <a:latin typeface="Consolas"/>
              </a:defRPr>
            </a:pPr>
            <a:r>
              <a:t># Point any agent framework to the ContextGC proxy:</a:t>
            </a:r>
            <a:br/>
            <a:r>
              <a:t>export OPENAI_BASE_URL="https://context-hackdevengers.vercel.app/v1"</a:t>
            </a:r>
            <a:br/>
            <a:r>
              <a:t>export OPENAI_API_KEY="sk-your-openai-key"</a:t>
            </a:r>
            <a:br/>
            <a:br/>
            <a:r>
              <a:t># Standard OpenAI SDK or curl works out-of-the-box</a:t>
            </a:r>
            <a:br/>
            <a:r>
              <a:t>curl -X POST $OPENAI_BASE_URL/chat/completions \</a:t>
            </a:r>
            <a:br/>
            <a:r>
              <a:t>  -H "Authorization: Bearer $OPENAI_API_KEY" \</a:t>
            </a:r>
            <a:br/>
            <a:r>
              <a:t>  -d '{"model": "gpt-4o", "messages": [...]}'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663440"/>
            <a:ext cx="487649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✓ Real-time SSE streaming (stream: true) with chat.completion.chunk</a:t>
            </a:r>
          </a:p>
          <a:p>
            <a:pPr>
              <a:spcBef>
                <a:spcPts val="6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✓ Trailing defrag telemetry headers: x-contextgc-saved-tokens</a:t>
            </a:r>
          </a:p>
          <a:p>
            <a:pPr>
              <a:spcBef>
                <a:spcPts val="6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✓ Deployed serverless on Vercel Edge with zero cold start penalty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🚀 Built for Production · Ready for Hack Devengers 2.0</a:t>
            </a:r>
          </a:p>
          <a:p>
            <a:pPr>
              <a:spcBef>
                <a:spcPts val="400"/>
              </a:spcBef>
              <a:defRPr sz="1150">
                <a:solidFill>
                  <a:srgbClr val="94A3B8"/>
                </a:solidFill>
                <a:latin typeface="Arial"/>
              </a:defRPr>
            </a:pPr>
            <a:r>
              <a:t>ContextGC transforms long-horizon AI agents from brittle prototypes into reliable, cost-efficient enterprise infrastructure.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401568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400" b="1">
                <a:solidFill>
                  <a:srgbClr val="38BDF8"/>
                </a:solidFill>
                <a:latin typeface="Arial"/>
              </a:defRPr>
            </a:pPr>
            <a:r>
              <a:t>🌐 Live Web Dashboard</a:t>
            </a:r>
          </a:p>
          <a:p>
            <a:pPr>
              <a:spcBef>
                <a:spcPts val="400"/>
              </a:spcBef>
              <a:defRPr sz="950" b="1">
                <a:solidFill>
                  <a:srgbClr val="FFFFFF"/>
                </a:solidFill>
                <a:latin typeface="Consolas"/>
              </a:defRPr>
            </a:pPr>
            <a:r>
              <a:t>https://context-hackdevengers.vercel.app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Interactive split-screen showdown.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Visual token flamegraph &amp; savings metrics.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Real-time State DAG inspector &amp; rollbacks.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1-click live execution against GPT-4o.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401568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400" b="1">
                <a:solidFill>
                  <a:srgbClr val="6366F1"/>
                </a:solidFill>
                <a:latin typeface="Arial"/>
              </a:defRPr>
            </a:pPr>
            <a:r>
              <a:t>📊 Pitch Deck &amp; Benchmarks</a:t>
            </a:r>
          </a:p>
          <a:p>
            <a:pPr>
              <a:spcBef>
                <a:spcPts val="400"/>
              </a:spcBef>
              <a:defRPr sz="950" b="1">
                <a:solidFill>
                  <a:srgbClr val="FFFFFF"/>
                </a:solidFill>
                <a:latin typeface="Consolas"/>
              </a:defRPr>
            </a:pPr>
            <a:r>
              <a:t>https://context-hackdevengers.vercel.app/presentation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Comprehensive architectural slide deck.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Full empirical benchmark comparison sheets.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Detailed failure mode analysis &amp; solutions.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100% editable PPTX &amp; Canva presentations.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401568" cy="3977639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01168"/>
          <a:lstStyle/>
          <a:p>
            <a:pPr algn="ctr">
              <a:defRPr sz="1400" b="1">
                <a:solidFill>
                  <a:srgbClr val="34D399"/>
                </a:solidFill>
                <a:latin typeface="Arial"/>
              </a:defRPr>
            </a:pPr>
            <a:r>
              <a:t>🐙 Open-Source Repository</a:t>
            </a:r>
          </a:p>
          <a:p>
            <a:pPr>
              <a:spcBef>
                <a:spcPts val="400"/>
              </a:spcBef>
              <a:defRPr sz="950" b="1">
                <a:solidFill>
                  <a:srgbClr val="FFFFFF"/>
                </a:solidFill>
                <a:latin typeface="Consolas"/>
              </a:defRPr>
            </a:pPr>
            <a:r>
              <a:t>https://github.com/j4yop/context-hackdevengers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27 automated pytests passing.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Drop-in FastAPI proxy &amp; Python SDK.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Clean architecture, fully typed &amp; documented.</a:t>
            </a:r>
          </a:p>
          <a:p>
            <a:pPr>
              <a:spcBef>
                <a:spcPts val="800"/>
              </a:spcBef>
              <a:defRPr sz="1000">
                <a:solidFill>
                  <a:srgbClr val="F1F5F9"/>
                </a:solidFill>
                <a:latin typeface="Arial"/>
              </a:defRPr>
            </a:pPr>
            <a:r>
              <a:t>• Ready for immediate production deployment.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532120"/>
            <a:ext cx="10728655" cy="685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>
              <a:defRPr sz="1100" b="1">
                <a:solidFill>
                  <a:srgbClr val="34D399"/>
                </a:solidFill>
                <a:latin typeface="Consolas"/>
              </a:defRPr>
            </a:pPr>
            <a:r>
              <a:t>⚡ Run Local Showdown in 5 Seconds: python3 demo/interactive_demo.py  (Deterministic sub-15ms terminal showdown)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